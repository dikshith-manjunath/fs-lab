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9" r:id="rId14"/>
  </p:sldIdLst>
  <p:sldSz cx="12192000" cy="6858000"/>
  <p:notesSz cx="12192000" cy="6858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Palatino Linotype" panose="02040502050505030304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VhF0DiEkVeba5K6xaiXN2Pkst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p2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3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901718" y="1044459"/>
            <a:ext cx="5309870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3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ctrTitle"/>
          </p:nvPr>
        </p:nvSpPr>
        <p:spPr>
          <a:xfrm>
            <a:off x="5067081" y="360836"/>
            <a:ext cx="2131059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3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/>
          <p:nvPr/>
        </p:nvSpPr>
        <p:spPr>
          <a:xfrm>
            <a:off x="0" y="0"/>
            <a:ext cx="12192000" cy="1094740"/>
          </a:xfrm>
          <a:custGeom>
            <a:avLst/>
            <a:gdLst/>
            <a:ahLst/>
            <a:cxnLst/>
            <a:rect l="l" t="t" r="r" b="b"/>
            <a:pathLst>
              <a:path w="12192000" h="1094740" extrusionOk="0">
                <a:moveTo>
                  <a:pt x="12191999" y="1094703"/>
                </a:moveTo>
                <a:lnTo>
                  <a:pt x="0" y="1094703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094703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"/>
          <p:cNvSpPr/>
          <p:nvPr/>
        </p:nvSpPr>
        <p:spPr>
          <a:xfrm>
            <a:off x="0" y="0"/>
            <a:ext cx="12192000" cy="1094740"/>
          </a:xfrm>
          <a:custGeom>
            <a:avLst/>
            <a:gdLst/>
            <a:ahLst/>
            <a:cxnLst/>
            <a:rect l="l" t="t" r="r" b="b"/>
            <a:pathLst>
              <a:path w="12192000" h="1094740" extrusionOk="0">
                <a:moveTo>
                  <a:pt x="0" y="0"/>
                </a:moveTo>
                <a:lnTo>
                  <a:pt x="12191999" y="0"/>
                </a:lnTo>
                <a:lnTo>
                  <a:pt x="12191999" y="1094703"/>
                </a:lnTo>
                <a:lnTo>
                  <a:pt x="0" y="1094703"/>
                </a:lnTo>
                <a:lnTo>
                  <a:pt x="0" y="0"/>
                </a:lnTo>
                <a:close/>
              </a:path>
            </a:pathLst>
          </a:custGeom>
          <a:noFill/>
          <a:ln w="12675" cap="flat" cmpd="sng">
            <a:solidFill>
              <a:srgbClr val="1B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" y="0"/>
            <a:ext cx="1191373" cy="110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5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3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body" idx="1"/>
          </p:nvPr>
        </p:nvSpPr>
        <p:spPr>
          <a:xfrm>
            <a:off x="901718" y="1044459"/>
            <a:ext cx="5309870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585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38100" marR="0" lvl="1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38100" marR="0" lvl="2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38100" marR="0" lvl="3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8100" marR="0" lvl="4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8100" marR="0" lvl="5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8100" marR="0" lvl="6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8100" marR="0" lvl="7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38100" marR="0" lvl="8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3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>
                <a:latin typeface="Cambria"/>
                <a:ea typeface="Cambria"/>
                <a:cs typeface="Cambria"/>
                <a:sym typeface="Cambria"/>
              </a:rPr>
              <a:t>DEPARTMENT OF INFORMATION SCIENCE &amp; ENGINEERING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381000" y="1498478"/>
            <a:ext cx="11430000" cy="222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MAJOR PROJECT REVIEW (22IS76)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US" sz="36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algn="ctr">
              <a:buSzPts val="3600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Spiking Graph Convolutional Networks for Low Power Dynamic Transaction Fraud Detection</a:t>
            </a:r>
            <a:endParaRPr sz="7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228600" y="4321888"/>
            <a:ext cx="23241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by: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894010" y="4365098"/>
            <a:ext cx="371030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 the guidance of: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7315202" y="4915627"/>
            <a:ext cx="6172200" cy="142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702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Dr. Vaidehi M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marR="5080" lvl="0" indent="895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Professor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2700" marR="5080" lvl="0" indent="895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Dept. of ISE, DSCE,</a:t>
            </a:r>
          </a:p>
          <a:p>
            <a:pPr marL="12700" marR="5080" lvl="0" indent="895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Bangalore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228600" y="4713048"/>
            <a:ext cx="46482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Bhoomika Nayak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: 1DS23IS031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ts val="1800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Chandra Shekar GV : 1DS23IS035</a:t>
            </a:r>
          </a:p>
          <a:p>
            <a:pPr lvl="0">
              <a:buSzPts val="1800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Chetan S : 1DS23IS037</a:t>
            </a:r>
          </a:p>
          <a:p>
            <a:pPr lvl="0">
              <a:buSzPts val="1800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Dikshith M : 1DS23IS044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695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2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  <a:p>
            <a:pPr marL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1304389" y="930410"/>
            <a:ext cx="8668789" cy="541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92455" lvl="0" indent="-5797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Research  Gap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Problem Statement</a:t>
            </a:r>
            <a:endParaRPr sz="2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Hardware &amp; Software Requirements Specification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System Design &amp; 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Expected Outcomes</a:t>
            </a:r>
            <a:endParaRPr sz="2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References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2455" lvl="0" indent="-57975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mbria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Project Outputs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636450" y="187656"/>
            <a:ext cx="363382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F3CCE-47B9-7446-793B-8627D8A3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4389" y="1705451"/>
            <a:ext cx="9953096" cy="3447098"/>
          </a:xfrm>
        </p:spPr>
        <p:txBody>
          <a:bodyPr/>
          <a:lstStyle/>
          <a:p>
            <a:pPr marL="228600" indent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financial and network graphs require efficient methods for detecting fraudulent and anomalous activity. TS-GCN combines graph message passing with Leaky Integrate-and-Fire (LIF) spiking neurons to introduce temporal and event-driven processing. The model will be evaluated against a conventional GCN through classification performance, spike sparsity, latency, and estimated energy efficiency, with potential deployment on neuromorphic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420767" y="332119"/>
            <a:ext cx="10254615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1183122" y="1413487"/>
            <a:ext cx="10375882" cy="4121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transaction and network data can be represented as graphs of entities and their interactions.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GNNs learn these relationships but require continuous computation.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SNNs use spikes and temporal neuron states for sparse, time-dependent processing.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TS-GCN combines GNN-based spatial learning with SNN-based temporal processing.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will be tested through software simulation and evaluated for its potential on neuromorphic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667F96-03A7-488B-2548-75B227E8D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03959"/>
              </p:ext>
            </p:extLst>
          </p:nvPr>
        </p:nvGraphicFramePr>
        <p:xfrm>
          <a:off x="1399309" y="1237681"/>
          <a:ext cx="9393381" cy="4797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31127">
                  <a:extLst>
                    <a:ext uri="{9D8B030D-6E8A-4147-A177-3AD203B41FA5}">
                      <a16:colId xmlns:a16="http://schemas.microsoft.com/office/drawing/2014/main" val="2423216995"/>
                    </a:ext>
                  </a:extLst>
                </a:gridCol>
                <a:gridCol w="3131127">
                  <a:extLst>
                    <a:ext uri="{9D8B030D-6E8A-4147-A177-3AD203B41FA5}">
                      <a16:colId xmlns:a16="http://schemas.microsoft.com/office/drawing/2014/main" val="2752264585"/>
                    </a:ext>
                  </a:extLst>
                </a:gridCol>
                <a:gridCol w="3131127">
                  <a:extLst>
                    <a:ext uri="{9D8B030D-6E8A-4147-A177-3AD203B41FA5}">
                      <a16:colId xmlns:a16="http://schemas.microsoft.com/office/drawing/2014/main" val="2915327959"/>
                    </a:ext>
                  </a:extLst>
                </a:gridCol>
              </a:tblGrid>
              <a:tr h="4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Work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Contribution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Relevance to TS-GCN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173735"/>
                  </a:ext>
                </a:extLst>
              </a:tr>
              <a:tr h="95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Kipf &amp; Welling (2017)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Introduced GCN-based graph representation learning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Spatial graph message passing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10447"/>
                  </a:ext>
                </a:extLst>
              </a:tr>
              <a:tr h="663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/>
                        <a:t>Neftci</a:t>
                      </a:r>
                      <a:r>
                        <a:rPr lang="en-US" sz="2000" b="0" dirty="0"/>
                        <a:t> et al. (2019)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Surrogate-gradient learning for SNNs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Enables gradient-based SNN training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02977"/>
                  </a:ext>
                </a:extLst>
              </a:tr>
              <a:tr h="95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/>
                        <a:t>Tavanaei</a:t>
                      </a:r>
                      <a:r>
                        <a:rPr lang="en-US" sz="2000" b="0" dirty="0"/>
                        <a:t> et al. (2019)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Comprehensive study of deep SNN architectures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SNN design and learning principles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15579"/>
                  </a:ext>
                </a:extLst>
              </a:tr>
              <a:tr h="95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Davies et al. (2018)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Intel </a:t>
                      </a:r>
                      <a:r>
                        <a:rPr lang="en-US" sz="2000" dirty="0" err="1"/>
                        <a:t>Loihi</a:t>
                      </a:r>
                      <a:r>
                        <a:rPr lang="en-US" sz="2000" dirty="0"/>
                        <a:t> neuromorphic architecture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Hardware motivation for sparse computation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00048"/>
                  </a:ext>
                </a:extLst>
              </a:tr>
              <a:tr h="687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/>
                        <a:t>Eshraghian</a:t>
                      </a:r>
                      <a:r>
                        <a:rPr lang="en-US" sz="2000" b="0" dirty="0"/>
                        <a:t> et al. (2023)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Practical SNN training using </a:t>
                      </a:r>
                      <a:r>
                        <a:rPr lang="en-US" sz="2000" dirty="0" err="1"/>
                        <a:t>snnTorch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Implementation framework for TS-GCN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61" marR="90661" marT="45331" marB="453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420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586573" y="416889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908059" y="1460512"/>
            <a:ext cx="10375882" cy="393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GNNs mainly focus on spatial relationships and use continuous computation.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SNNs provide temporal and sparse processing but are less explored for dynamic graph-based fraud detection.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approaches effectively combine graph learning + temporal spiking dynamics for streaming anomalies.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energy savings and spike sparsity of such models on neuromorphic hardware remain to be evaluated for this application.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gap through a TS-GCN framework and comparison with a conventional GCN.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t>Problem Statement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1228433" y="1483355"/>
            <a:ext cx="10375882" cy="4306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transaction and network graphs contain continuously changing patterns that are difficult to process efficiently.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GNNs rely on continuous computation and may be sensitive to short-term fluctuations.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SNNs offer sparse, event-driven processing but are less explored for graph-based fraud and anomaly detection.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combine GNN spatial learning with SNN temporal dynamics through TS-GCN.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will be compared with a conventional GCN to study improvements in detection performance, computational efficiency, and energy usage.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Requirements Specification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1022985" y="1460512"/>
            <a:ext cx="10375882" cy="393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Hardware: Modern laptop/desktop, 8–16 GB RAM, and an NVIDIA CUDA-capable GPU for model training and SNN simulation.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Software: Python,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Geometric,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snnTorch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NumPy, Pandas, Scikit-learn, and CUDA.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Jupyter/Google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experimentation and Git/GitHub for version control.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Hardware: For real deployment, platforms such as Intel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SynSense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BrainScaleS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be required to exploit event-driven computation.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Event-Based Sensors: Neuromorphic cameras/DVS sensors can be used for event-stream applications, although they are not required for the financial/network transaction use case; specialized hardware is difficult to source, so the project will initially rely on software simulation.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Methodology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908059" y="1460512"/>
            <a:ext cx="10375882" cy="393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Convert transaction/network records into a dynamic graph, with entities as nodes and interactions as edges.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Learning: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Geometric for spatial message passing and feature aggregation across connected nodes.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Spiking Layer: Pass the aggregated features through LIF neurons to integrate information over time and generate sparse spikes.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Use surrogate-gradient learning and BPTT to train the non-differentiable spiking network.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Compare TS-GCN with a conventional GCN using accuracy, F1-score, ROC-AUC, spike sparsity, latency, and estimated energy consumption.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908059" y="1458629"/>
            <a:ext cx="10375882" cy="3567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TS-GCN model combining graph convolution with LIF-based spiking dynamics.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handling of temporal noise and minority-class anomalies compared with a conventional GCN.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spike sparsity, reducing unnecessary neural activity during processing.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lower computational and energy requirements, particularly on neuromorphic hardware.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evaluation of accuracy, F1-score, ROC-AUC, latency, spike sparsity, and estimated energy consumption.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901718" y="1614400"/>
            <a:ext cx="10702597" cy="362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71500" lvl="0" indent="-342900"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Eshraghian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K., Ward, M.,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Neftci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O., et al., “Training Spiking Neural Networks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snnTorch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111, no. 9, pp. 1101–1116, 2023.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Neftci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O., Mostafa, H.,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Indiveri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“Surrogate Gradient Learning Enabled Backpropagation for Spiking Neural Networks,”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Signal Processing Magazine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36, no. 6, pp. 51–63, 2019.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Tavanaei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Ghodrati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Kheradpisheh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R., Masquelier, T., and Maida, A., “Deep Learning in Spiking Neural Networks,”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111, pp. 47–63, 2019.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Kipf, T. N. and Welling, M., “Semi-Supervised Classification with Graph Convolutional Networks,”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Davies, M., Srinivasa, N., Lin, T. H., et al.,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Neuromorphic Manycore Processor with On-Chip Learning,”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Micro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38, no. 1, pp. 82–99, 2018.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349700" y="326641"/>
            <a:ext cx="1025461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Outputs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sldNum" idx="12"/>
          </p:nvPr>
        </p:nvSpPr>
        <p:spPr>
          <a:xfrm>
            <a:off x="11841188" y="6441110"/>
            <a:ext cx="2095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901718" y="1292374"/>
            <a:ext cx="10375882" cy="467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00" rIns="0" bIns="0" anchor="t" anchorCtr="0">
            <a:sp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Planned: Preparation and submission of a research paper to a peer-reviewed conference/journal on temporal spiking GNNs for energy-efficient dynamic anomaly detection.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Potential: Development of a patentable TS-GCN framework combining graph learning, temporal spiking dynamics, and energy-efficient anomaly detection, subject to novelty and prior-art evaluation.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Planned: A reproducible software prototype and simulation framework for TS-GCN experimentation and benchmarking.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Potential: Further development toward neuromorphic hardware deployment and proof-of-concept demonstration on suitable platforms. 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Exploration of industry collaboration or funded research for real-world deployment and hardware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>
            <a:spLocks noGrp="1"/>
          </p:cNvSpPr>
          <p:nvPr>
            <p:ph type="title"/>
          </p:nvPr>
        </p:nvSpPr>
        <p:spPr>
          <a:xfrm>
            <a:off x="3983844" y="2868324"/>
            <a:ext cx="3281679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THANK YOU</a:t>
            </a:r>
            <a:endParaRPr sz="40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0" name="Google Shape;80;p4"/>
          <p:cNvSpPr txBox="1">
            <a:spLocks noGrp="1"/>
          </p:cNvSpPr>
          <p:nvPr>
            <p:ph type="dt" idx="10"/>
          </p:nvPr>
        </p:nvSpPr>
        <p:spPr>
          <a:xfrm>
            <a:off x="179689" y="6441110"/>
            <a:ext cx="112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05-08-2026</a:t>
            </a:r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ftr" idx="11"/>
          </p:nvPr>
        </p:nvSpPr>
        <p:spPr>
          <a:xfrm>
            <a:off x="4074128" y="6441110"/>
            <a:ext cx="4679950" cy="2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sldNum" idx="12"/>
          </p:nvPr>
        </p:nvSpPr>
        <p:spPr>
          <a:xfrm>
            <a:off x="11608305" y="6452336"/>
            <a:ext cx="808012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1199</Words>
  <Application>Microsoft Office PowerPoint</Application>
  <PresentationFormat>Widescreen</PresentationFormat>
  <Paragraphs>132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</vt:lpstr>
      <vt:lpstr>Calibri</vt:lpstr>
      <vt:lpstr>Times New Roman</vt:lpstr>
      <vt:lpstr>Arial</vt:lpstr>
      <vt:lpstr>Palatino Linotype</vt:lpstr>
      <vt:lpstr>Office Theme</vt:lpstr>
      <vt:lpstr>DEPARTMENT OF INFORMATION SCIENCE &amp; ENGINEERING</vt:lpstr>
      <vt:lpstr>CONTENTS</vt:lpstr>
      <vt:lpstr>Abstract</vt:lpstr>
      <vt:lpstr>Introduction</vt:lpstr>
      <vt:lpstr>Literature Survey</vt:lpstr>
      <vt:lpstr>Research Gap</vt:lpstr>
      <vt:lpstr>Problem Statement</vt:lpstr>
      <vt:lpstr>Hardware &amp; Software Requirements Specification</vt:lpstr>
      <vt:lpstr>System Design &amp; Methodology</vt:lpstr>
      <vt:lpstr>Expected Outcomes</vt:lpstr>
      <vt:lpstr>References</vt:lpstr>
      <vt:lpstr>Project Outputs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Srujan</dc:creator>
  <cp:lastModifiedBy>Docker</cp:lastModifiedBy>
  <cp:revision>1</cp:revision>
  <dcterms:created xsi:type="dcterms:W3CDTF">2025-04-24T12:17:43Z</dcterms:created>
  <dcterms:modified xsi:type="dcterms:W3CDTF">2026-08-09T13:08:39Z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2025-04-24T00:00:00Z</vt:filetime>
  </property>
</Properties>
</file>