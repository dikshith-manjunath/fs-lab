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59" r:id="rId9"/>
  </p:sldIdLst>
  <p:sldSz cy="6858000" cx="12192000"/>
  <p:notesSz cx="12192000" cy="6858000"/>
  <p:embeddedFontLst>
    <p:embeddedFont>
      <p:font typeface="Palatino Linotype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4" roundtripDataSignature="AMtx7mgVhF0DiEkVeba5K6xaiXN2Pkst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13.xml"/><Relationship Id="rId10" Type="http://schemas.openxmlformats.org/officeDocument/2006/relationships/font" Target="fonts/PalatinoLinotype-regular.fntdata"/><Relationship Id="rId11" Type="http://schemas.openxmlformats.org/officeDocument/2006/relationships/font" Target="fonts/PalatinoLinotype-bold.fntdata"/><Relationship Id="rId12" Type="http://schemas.openxmlformats.org/officeDocument/2006/relationships/font" Target="fonts/PalatinoLinotype-italic.fntdata"/><Relationship Id="rId13" Type="http://schemas.openxmlformats.org/officeDocument/2006/relationships/font" Target="fonts/PalatinoLinotype-boldItalic.fntdata"/><Relationship Id="rId14" Type="http://customschemas.google.com/relationships/presentationmetadata" Target="metadata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6905625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8" name="Google Shape;48;p1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" name="Google Shape;59;p2:notes"/>
          <p:cNvSpPr txBox="1"/>
          <p:nvPr>
            <p:ph idx="12" type="sldNum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" name="Google Shape;68;p3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" name="Google Shape;77;p4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 txBox="1"/>
          <p:nvPr>
            <p:ph type="title"/>
          </p:nvPr>
        </p:nvSpPr>
        <p:spPr>
          <a:xfrm>
            <a:off x="1349700" y="326641"/>
            <a:ext cx="10254615" cy="534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" type="body"/>
          </p:nvPr>
        </p:nvSpPr>
        <p:spPr>
          <a:xfrm>
            <a:off x="901718" y="1044459"/>
            <a:ext cx="5309870" cy="41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0" type="dt"/>
          </p:nvPr>
        </p:nvSpPr>
        <p:spPr>
          <a:xfrm>
            <a:off x="179689" y="6441110"/>
            <a:ext cx="1124585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0" lvl="1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0" lvl="2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0" lvl="3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0" lvl="4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0" lvl="5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0" lvl="6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0" lvl="7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0" lvl="8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1349700" y="326641"/>
            <a:ext cx="10254615" cy="534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0" type="dt"/>
          </p:nvPr>
        </p:nvSpPr>
        <p:spPr>
          <a:xfrm>
            <a:off x="179689" y="6441110"/>
            <a:ext cx="1124585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0" lvl="1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0" lvl="2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0" lvl="3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0" lvl="4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0" lvl="5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0" lvl="6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0" lvl="7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0" lvl="8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ctrTitle"/>
          </p:nvPr>
        </p:nvSpPr>
        <p:spPr>
          <a:xfrm>
            <a:off x="5067081" y="360836"/>
            <a:ext cx="2131059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0" type="dt"/>
          </p:nvPr>
        </p:nvSpPr>
        <p:spPr>
          <a:xfrm>
            <a:off x="179689" y="6441110"/>
            <a:ext cx="1124585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0" lvl="1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0" lvl="2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0" lvl="3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0" lvl="4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0" lvl="5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0" lvl="6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0" lvl="7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0" lvl="8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/>
          <p:nvPr>
            <p:ph type="title"/>
          </p:nvPr>
        </p:nvSpPr>
        <p:spPr>
          <a:xfrm>
            <a:off x="1349700" y="326641"/>
            <a:ext cx="10254615" cy="534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0" type="dt"/>
          </p:nvPr>
        </p:nvSpPr>
        <p:spPr>
          <a:xfrm>
            <a:off x="179689" y="6441110"/>
            <a:ext cx="1124585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0" lvl="1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0" lvl="2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0" lvl="3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0" lvl="4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0" lvl="5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0" lvl="6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0" lvl="7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0" lvl="8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0" type="dt"/>
          </p:nvPr>
        </p:nvSpPr>
        <p:spPr>
          <a:xfrm>
            <a:off x="179689" y="6441110"/>
            <a:ext cx="1124585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600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0" lvl="1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0" lvl="2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0" lvl="3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0" lvl="4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0" lvl="5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0" lvl="6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0" lvl="7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0" lvl="8" marL="38100" marR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/>
          <p:nvPr/>
        </p:nvSpPr>
        <p:spPr>
          <a:xfrm>
            <a:off x="0" y="0"/>
            <a:ext cx="12192000" cy="1094740"/>
          </a:xfrm>
          <a:custGeom>
            <a:rect b="b" l="l" r="r" t="t"/>
            <a:pathLst>
              <a:path extrusionOk="0" h="1094740" w="12192000">
                <a:moveTo>
                  <a:pt x="12191999" y="1094703"/>
                </a:moveTo>
                <a:lnTo>
                  <a:pt x="0" y="1094703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1094703"/>
                </a:lnTo>
                <a:close/>
              </a:path>
            </a:pathLst>
          </a:custGeom>
          <a:solidFill>
            <a:srgbClr val="2F549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5"/>
          <p:cNvSpPr/>
          <p:nvPr/>
        </p:nvSpPr>
        <p:spPr>
          <a:xfrm>
            <a:off x="0" y="0"/>
            <a:ext cx="12192000" cy="1094740"/>
          </a:xfrm>
          <a:custGeom>
            <a:rect b="b" l="l" r="r" t="t"/>
            <a:pathLst>
              <a:path extrusionOk="0" h="1094740" w="12192000">
                <a:moveTo>
                  <a:pt x="0" y="0"/>
                </a:moveTo>
                <a:lnTo>
                  <a:pt x="12191999" y="0"/>
                </a:lnTo>
                <a:lnTo>
                  <a:pt x="12191999" y="1094703"/>
                </a:lnTo>
                <a:lnTo>
                  <a:pt x="0" y="1094703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12675">
            <a:solidFill>
              <a:srgbClr val="1B30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2" y="0"/>
            <a:ext cx="1191373" cy="1107581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5"/>
          <p:cNvSpPr txBox="1"/>
          <p:nvPr>
            <p:ph type="title"/>
          </p:nvPr>
        </p:nvSpPr>
        <p:spPr>
          <a:xfrm>
            <a:off x="1349700" y="326641"/>
            <a:ext cx="10254615" cy="534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5"/>
          <p:cNvSpPr txBox="1"/>
          <p:nvPr>
            <p:ph idx="1" type="body"/>
          </p:nvPr>
        </p:nvSpPr>
        <p:spPr>
          <a:xfrm>
            <a:off x="901718" y="1044459"/>
            <a:ext cx="5309870" cy="41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179689" y="6441110"/>
            <a:ext cx="1124585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0" lvl="1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0" lvl="2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0" lvl="3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0" lvl="4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0" lvl="5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0" lvl="6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0" lvl="7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0" lvl="8" marL="3810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888888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"/>
          <p:cNvSpPr txBox="1"/>
          <p:nvPr>
            <p:ph type="title"/>
          </p:nvPr>
        </p:nvSpPr>
        <p:spPr>
          <a:xfrm>
            <a:off x="1349700" y="326641"/>
            <a:ext cx="10254615" cy="534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4600">
            <a:spAutoFit/>
          </a:bodyPr>
          <a:lstStyle/>
          <a:p>
            <a:pPr indent="0" lvl="0" marL="127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2800">
                <a:latin typeface="Cambria"/>
                <a:ea typeface="Cambria"/>
                <a:cs typeface="Cambria"/>
                <a:sym typeface="Cambria"/>
              </a:rPr>
              <a:t>DEPARTMENT OF INFORMATION SCIENCE &amp; ENGINEERING</a:t>
            </a:r>
            <a:endParaRPr sz="2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1" name="Google Shape;51;p1"/>
          <p:cNvSpPr txBox="1"/>
          <p:nvPr/>
        </p:nvSpPr>
        <p:spPr>
          <a:xfrm>
            <a:off x="381000" y="1955291"/>
            <a:ext cx="11430000" cy="11336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MAJOR PROJECT REVIEW (22IS76)</a:t>
            </a:r>
            <a:endParaRPr b="1" i="0" sz="3600" u="none" cap="none" strike="noStrik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LeadHer: Quantum-Optimized Women's Empowerment Budget Allocator</a:t>
            </a:r>
            <a:endParaRPr b="0" i="0" sz="3600" u="none" cap="none" strike="noStrik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2" name="Google Shape;52;p1"/>
          <p:cNvSpPr txBox="1"/>
          <p:nvPr/>
        </p:nvSpPr>
        <p:spPr>
          <a:xfrm>
            <a:off x="228600" y="4321888"/>
            <a:ext cx="2324100" cy="382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Presented</a:t>
            </a: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by: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"/>
          <p:cNvSpPr txBox="1"/>
          <p:nvPr/>
        </p:nvSpPr>
        <p:spPr>
          <a:xfrm>
            <a:off x="8100695" y="4460223"/>
            <a:ext cx="3710305" cy="382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Under the guidance of:</a:t>
            </a:r>
            <a:endParaRPr b="0" i="0" sz="2400" u="none" cap="none" strike="noStrik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4" name="Google Shape;54;p1"/>
          <p:cNvSpPr txBox="1"/>
          <p:nvPr/>
        </p:nvSpPr>
        <p:spPr>
          <a:xfrm>
            <a:off x="7315202" y="4953000"/>
            <a:ext cx="6172200" cy="11208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77025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&lt;&lt;Guide&gt;&gt;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89535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&lt;&lt;Designation&gt;&gt;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89535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ISE, DSCE, Bangalore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228600" y="4713048"/>
            <a:ext cx="464820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Name1 : USN1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Name2 : USN2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Name3: USN3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Name4 : USN4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3695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>
                <a:latin typeface="Cambria"/>
                <a:ea typeface="Cambria"/>
                <a:cs typeface="Cambria"/>
                <a:sym typeface="Cambria"/>
              </a:rPr>
              <a:t>CONTENTS</a:t>
            </a:r>
            <a:endParaRPr/>
          </a:p>
        </p:txBody>
      </p:sp>
      <p:sp>
        <p:nvSpPr>
          <p:cNvPr id="62" name="Google Shape;62;p2"/>
          <p:cNvSpPr txBox="1"/>
          <p:nvPr>
            <p:ph idx="10" type="dt"/>
          </p:nvPr>
        </p:nvSpPr>
        <p:spPr>
          <a:xfrm>
            <a:off x="179689" y="6441110"/>
            <a:ext cx="112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  <a:p>
            <a:pPr indent="0" lvl="0" marL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" name="Google Shape;63;p2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64" name="Google Shape;64;p2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p2"/>
          <p:cNvSpPr txBox="1"/>
          <p:nvPr>
            <p:ph idx="1" type="body"/>
          </p:nvPr>
        </p:nvSpPr>
        <p:spPr>
          <a:xfrm>
            <a:off x="990600" y="831908"/>
            <a:ext cx="8464500" cy="60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579755" lvl="0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Abstract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Introduction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Literature Survey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Research  Gap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Problem Statement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Hardware &amp; Software Requirements Specification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System Design &amp; Methodology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Expected Outcomes</a:t>
            </a:r>
            <a:endParaRPr sz="2000">
              <a:latin typeface="Cambria"/>
              <a:ea typeface="Cambria"/>
              <a:cs typeface="Cambria"/>
              <a:sym typeface="Cambria"/>
            </a:endParaRPr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References  </a:t>
            </a:r>
            <a:endParaRPr/>
          </a:p>
          <a:p>
            <a:pPr indent="-579755" lvl="0" marL="592455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mbria"/>
              <a:buAutoNum type="arabicPeriod"/>
            </a:pPr>
            <a:r>
              <a:rPr lang="en-US" sz="2000">
                <a:latin typeface="Cambria"/>
                <a:ea typeface="Cambria"/>
                <a:cs typeface="Cambria"/>
                <a:sym typeface="Cambria"/>
              </a:rPr>
              <a:t>Project Outputs(Patent/Paper Publication/Funded Project) </a:t>
            </a:r>
            <a:endParaRPr/>
          </a:p>
          <a:p>
            <a:pPr indent="0" lvl="0" marL="127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24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Abstract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MGNREGA channels large public funds into rural employment and women's economic participation, but district-wise budget allocation currently relies on a manual, highest-need-first heuristic.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LeadHer merges NFHS-5, MGNREGA and PMJDY data into a unified 648-district dataset and trains a Random Forest Regressor (R² = 0.78) to estimate a composite women's-empowerment impact score.</a:t>
            </a:r>
          </a:p>
          <a:p>
            <a:pPr/>
            <a:r>
              <a:rPr sz="1800"/>
              <a:t>A pure-NumPy simulation of the Quantum Approximate Optimization Algorithm (QAOA) selects the highest-impact subset of districts under a budget constraint.</a:t>
            </a:r>
          </a:p>
          <a:p>
            <a:pPr/>
            <a:r>
              <a:rPr sz="1800"/>
              <a:t>The QAOA-based allocation improves total weighted impact by 2%-15% over a greedy baseline, delivered via an interactive FastAPI + Next.js dashboard with an LLM-generated policy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Introduction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India's MGNREGA is one of the world's largest public employment programs, and its funds are a key lever for improving rural women's economic agency.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Fund allocation across India's 648 districts is currently manual and rule-of-thumb driven, with no systematic optimization of impact per rupee spent.</a:t>
            </a:r>
          </a:p>
          <a:p>
            <a:pPr/>
            <a:r>
              <a:rPr sz="1800"/>
              <a:t>Recent advances in machine learning (impact prediction) and quantum-inspired optimization (QAOA) make it possible to search a much larger space of allocation decisions than classical heuristics.</a:t>
            </a:r>
          </a:p>
          <a:p>
            <a:pPr/>
            <a:r>
              <a:rPr sz="1800"/>
              <a:t>LeadHer combines these two techniques into a single, policy-ready decision-support platform, going beyond a theoretical exercise to a deployable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Literature Survey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Farhi, Goldstone &amp; Gutmann (2014) introduced the Quantum Approximate Optimization Algorithm (QAOA) for combinatorial optimization problems such as Max-Cut and knapsack-style selection.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Pedregosa et al. (2011, scikit-learn) and Virtanen et al. (2020, SciPy) provide the standard machine-learning and numerical-optimization tooling (Random Forest, COBYLA) used in this project.</a:t>
            </a:r>
          </a:p>
          <a:p>
            <a:pPr/>
            <a:r>
              <a:rPr sz="1800"/>
              <a:t>NFHS-5 (2019-21) and MGNREGA public records (nrega.nic.in) are established government data sources used in prior public-policy analytics studies of rural employment and women's empowerment.</a:t>
            </a:r>
          </a:p>
          <a:p>
            <a:pPr/>
            <a:r>
              <a:rPr sz="1800"/>
              <a:t>Existing public-sector budget-allocation tools are largely rule-based dashboards; none combine a learned impact model with a quantum-inspired combinatorial optimizer for district-level fund allocation in India.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Research Gap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No existing MGNREGA allocation tool models marginal impact per rupee — most rank districts purely by need indicators.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Classical brute-force search over district subsets is O(2^N) and infeasible beyond ~30 districts; greedy heuristics used in practice provide no optimality guarantee.</a:t>
            </a:r>
          </a:p>
          <a:p>
            <a:pPr/>
            <a:r>
              <a:rPr sz="1800"/>
              <a:t>QAOA-based combinatorial optimization has been studied theoretically but rarely applied to real government welfare-budgeting data or delivered through a policymaker-facing interface.</a:t>
            </a:r>
          </a:p>
          <a:p>
            <a:pPr/>
            <a:r>
              <a:rPr sz="1800"/>
              <a:t>There is no unified, publicly documented pipeline that jointly cleans NFHS-5, MGNREGA and PMJDY data, learns an impact model, and optimizes allocation end-to-end.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Problem Statement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Given a fixed national budget and 648 districts — each with different levels of need, women's agency and administrative capacity — how should MGNREGA funds be distributed to maximize measurable improvement in women's empowerment outcomes?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The current highest-need-first heuristic ignores marginal impact, cannot reason about the exponential space of district combinations under a budget cap, and does not account for a district's demonstrated ability to convert funds into outcomes.</a:t>
            </a:r>
          </a:p>
          <a:p>
            <a:pPr/>
            <a:r>
              <a:rPr sz="1800"/>
              <a:t>This project addresses the need for a decision-support system that combines predictive impact modelling with an efficient combinatorial optimizer, presented through an accessible policymaker interface.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Hardware &amp; Software Requirements Specification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Hardware: Standard laptop/desktop (no physical quantum hardware required — QAOA is simulated classically); minimum 8 GB RAM recommended for the 8-12 qubit simulation.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Backend: Python 3, FastAPI, pandas, scikit-learn (Random Forest), NumPy + SciPy (COBYLA-based QAOA simulation), uv package manager.</a:t>
            </a:r>
          </a:p>
          <a:p>
            <a:pPr/>
            <a:r>
              <a:rPr sz="1800"/>
              <a:t>Frontend: Next.js 16 (React 19), Tailwind CSS v4, Recharts, react-simple-maps (India GeoJSON), jsPDF + html2canvas for PDF export.</a:t>
            </a:r>
          </a:p>
          <a:p>
            <a:pPr/>
            <a:r>
              <a:rPr sz="1800"/>
              <a:t>LLM Layer: Google Gemini 2.5 Flash API for automated policy-report generation and natural-language policy parsing.</a:t>
            </a:r>
          </a:p>
          <a:p>
            <a:pPr/>
            <a:r>
              <a:rPr sz="1800"/>
              <a:t>Data: NFHS-5, MGNREGA public records (nrega.nic.in), PMJDY financial-inclusion tables — 648 districts × 8 columns after cleaning.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System Design &amp; Methodology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Three-tier architecture: Data/ML layer → FastAPI service layer → Next.js presentation layer.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Data pipeline: combiner scripts merge NFHS-5, MGNREGA and PMJDY sources (fuzzy-matched on district/state names) into ready_to_optimize.csv (648 × 8).</a:t>
            </a:r>
          </a:p>
          <a:p>
            <a:pPr/>
            <a:r>
              <a:rPr sz="1800"/>
              <a:t>ML model: Random Forest Regressor (100 trees) predicts a composite impact score; a marginal gradient (impact per Rs 10 Cr) is derived per district.</a:t>
            </a:r>
          </a:p>
          <a:p>
            <a:pPr/>
            <a:r>
              <a:rPr sz="1800"/>
              <a:t>Quantum optimizer: pure-NumPy QAOA (8 qubits / 256 states, p = 1 circuit, COBYLA-tuned) encodes the top candidate districts as qubits and selects the optimal priority subset under the budget constraint.</a:t>
            </a:r>
          </a:p>
          <a:p>
            <a:pPr/>
            <a:r>
              <a:rPr sz="1800"/>
              <a:t>Allocation &amp; reporting: full budget distributed across all districts (weighted by gradient, boosted for QAOA-selected districts); Gemini generates a narrative policy report, exported as PDF from the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Expected Outcomes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A cleaned, unified 648-district dataset combining NFHS-5, MGNREGA and PMJDY indicators, with documented data-cleaning and feature-engineering scripts.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A trained Random Forest impact model (R² ≈ 0.78) with interpretable feature importances (women's wages, agency score and literacy gap as top predictors).</a:t>
            </a:r>
          </a:p>
          <a:p>
            <a:pPr/>
            <a:r>
              <a:rPr sz="1800"/>
              <a:t>A working QAOA-based optimizer demonstrating a +2% to +15% improvement in total weighted impact over the current greedy allocation practice.</a:t>
            </a:r>
          </a:p>
          <a:p>
            <a:pPr/>
            <a:r>
              <a:rPr sz="1800"/>
              <a:t>A deployed FastAPI backend and interactive Next.js dashboard — map visualization, quantum-vs-greedy comparison, budget/filter controls and automated PDF policy reports — usable by non-technical policymakers.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References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National Family Health Survey-5 (2019-21), Ministry of Health and Family Welfare, Government of India.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MGNREGA public data, Ministry of Rural Development, Government of India (nrega.nic.in).</a:t>
            </a:r>
          </a:p>
          <a:p>
            <a:pPr/>
            <a:r>
              <a:rPr sz="1800"/>
              <a:t>Pradhan Mantri Jan Dhan Yojana (PMJDY) financial inclusion reports, Government of India.</a:t>
            </a:r>
          </a:p>
          <a:p>
            <a:pPr/>
            <a:r>
              <a:rPr sz="1800"/>
              <a:t>Farhi, E., Goldstone, J., Gutmann, S. (2014). A Quantum Approximate Optimization Algorithm. arXiv:1411.4028.</a:t>
            </a:r>
          </a:p>
          <a:p>
            <a:pPr/>
            <a:r>
              <a:rPr sz="1800"/>
              <a:t>Pedregosa, F. et al. (2011). Scikit-learn: Machine Learning in Python. JMLR, 12, 2825-2830.</a:t>
            </a:r>
          </a:p>
          <a:p>
            <a:pPr/>
            <a:r>
              <a:rPr sz="1800"/>
              <a:t>Virtanen, P. et al. (2020). SciPy 1.0: Fundamental Algorithms for Scientific Computing in Python. Nature Methods, 17, 261-272.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" name="Google Shape;70;p3"/>
          <p:cNvSpPr txBox="1"/>
          <p:nvPr>
            <p:ph type="title"/>
          </p:nvPr>
        </p:nvSpPr>
        <p:spPr>
          <a:xfrm>
            <a:off x="1349700" y="326641"/>
            <a:ext cx="10254615" cy="5052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t>Project Outputs (Patent/Paper Publication/Funded Project)</a:t>
            </a:r>
          </a:p>
        </p:txBody>
      </p:sp>
      <p:sp>
        <p:nvSpPr>
          <p:cNvPr id="71" name="Google Shape;71;p3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72" name="Google Shape;72;p3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73" name="Google Shape;73;p3"/>
          <p:cNvSpPr txBox="1"/>
          <p:nvPr>
            <p:ph idx="12" type="sldNum"/>
          </p:nvPr>
        </p:nvSpPr>
        <p:spPr>
          <a:xfrm>
            <a:off x="11841188" y="6441110"/>
            <a:ext cx="2095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3"/>
          <p:cNvSpPr txBox="1"/>
          <p:nvPr>
            <p:ph idx="1" type="body"/>
          </p:nvPr>
        </p:nvSpPr>
        <p:spPr>
          <a:xfrm>
            <a:off x="901718" y="1292374"/>
            <a:ext cx="10375882" cy="612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300">
            <a:spAutoFit/>
          </a:bodyPr>
          <a:lstStyle/>
          <a:p>
            <a:pPr indent="-478156" marL="5924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800"/>
              <a:t>Planned: a peer-reviewed conference/journal paper on QAOA-based combinatorial optimization for public-welfare budget allocation.</a:t>
            </a:r>
            <a:endParaRPr sz="2400">
              <a:latin typeface="Cambria"/>
              <a:ea typeface="Cambria"/>
              <a:cs typeface="Cambria"/>
              <a:sym typeface="Cambria"/>
            </a:endParaRPr>
          </a:p>
          <a:p>
            <a:pPr/>
            <a:r>
              <a:rPr sz="1800"/>
              <a:t>Planned: an open-source release of the data pipeline, Random Forest model and QAOA optimizer module for reuse by other public-policy analytics projects.</a:t>
            </a:r>
          </a:p>
          <a:p>
            <a:pPr/>
            <a:r>
              <a:rPr sz="1800"/>
              <a:t>Potential for pilot deployment / proof-of-concept demonstration with a state Rural Development Department, subject to guide and department approval.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 txBox="1"/>
          <p:nvPr>
            <p:ph type="title"/>
          </p:nvPr>
        </p:nvSpPr>
        <p:spPr>
          <a:xfrm>
            <a:off x="3983844" y="2868324"/>
            <a:ext cx="328167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4000">
                <a:solidFill>
                  <a:srgbClr val="000000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THANK YOU</a:t>
            </a:r>
            <a:endParaRPr sz="4000"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80" name="Google Shape;80;p4"/>
          <p:cNvSpPr txBox="1"/>
          <p:nvPr>
            <p:ph idx="10" type="dt"/>
          </p:nvPr>
        </p:nvSpPr>
        <p:spPr>
          <a:xfrm>
            <a:off x="179689" y="6441110"/>
            <a:ext cx="1124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05-08-2026</a:t>
            </a:r>
            <a:endParaRPr/>
          </a:p>
        </p:txBody>
      </p:sp>
      <p:sp>
        <p:nvSpPr>
          <p:cNvPr id="81" name="Google Shape;81;p4"/>
          <p:cNvSpPr txBox="1"/>
          <p:nvPr>
            <p:ph idx="11" type="ftr"/>
          </p:nvPr>
        </p:nvSpPr>
        <p:spPr>
          <a:xfrm>
            <a:off x="4074128" y="6441110"/>
            <a:ext cx="4679950" cy="229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Information Science &amp; Engineering</a:t>
            </a:r>
            <a:endParaRPr/>
          </a:p>
        </p:txBody>
      </p:sp>
      <p:sp>
        <p:nvSpPr>
          <p:cNvPr id="82" name="Google Shape;82;p4"/>
          <p:cNvSpPr txBox="1"/>
          <p:nvPr>
            <p:ph idx="12" type="sldNum"/>
          </p:nvPr>
        </p:nvSpPr>
        <p:spPr>
          <a:xfrm>
            <a:off x="11608305" y="6452336"/>
            <a:ext cx="808012" cy="218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2025-04-24T12:17:43Z</dcterms:created>
  <dc:creator>Srujan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2025-04-24T00:00:00Z</vt:filetime>
  </property>
  <property fmtid="{D5CDD505-2E9C-101B-9397-08002B2CF9AE}" pid="3" name="Creator">
    <vt:lpwstr>Google</vt:lpwstr>
  </property>
  <property fmtid="{D5CDD505-2E9C-101B-9397-08002B2CF9AE}" pid="4" name="LastSaved">
    <vt:filetime>2025-04-24T00:00:00Z</vt:filetime>
  </property>
</Properties>
</file>